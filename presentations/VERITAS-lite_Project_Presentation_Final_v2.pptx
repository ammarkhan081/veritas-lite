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2b106d90e24768" /><Relationship Type="http://schemas.openxmlformats.org/officeDocument/2006/relationships/extended-properties" Target="/docProps/app.xml" Id="R3bda0299d51e45b7" /><Relationship Type="http://schemas.openxmlformats.org/officeDocument/2006/relationships/officeDocument" Target="/ppt/presentation.xml" Id="R7fc9e8a4819e4b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9d594dff6947d0"/>
  </p:sldMasterIdLst>
  <p:notesMasterIdLst>
    <p:notesMasterId xmlns:r="http://schemas.openxmlformats.org/officeDocument/2006/relationships" r:id="R3271afa757384f70"/>
  </p:notesMasterIdLst>
  <p:sldIdLst>
    <p:sldId xmlns:r="http://schemas.openxmlformats.org/officeDocument/2006/relationships" id="256" r:id="R5f8c83d17de442b1"/>
    <p:sldId xmlns:r="http://schemas.openxmlformats.org/officeDocument/2006/relationships" id="257" r:id="R3c55429fd3f7409a"/>
    <p:sldId xmlns:r="http://schemas.openxmlformats.org/officeDocument/2006/relationships" id="258" r:id="R9bbdaeb668a240eb"/>
    <p:sldId xmlns:r="http://schemas.openxmlformats.org/officeDocument/2006/relationships" id="259" r:id="Rd96fb5fac7864804"/>
    <p:sldId xmlns:r="http://schemas.openxmlformats.org/officeDocument/2006/relationships" id="260" r:id="R229b42befc4d4cf7"/>
    <p:sldId xmlns:r="http://schemas.openxmlformats.org/officeDocument/2006/relationships" id="261" r:id="Rec2053107bbb40c1"/>
    <p:sldId xmlns:r="http://schemas.openxmlformats.org/officeDocument/2006/relationships" id="262" r:id="R90c83184ea524a4d"/>
    <p:sldId xmlns:r="http://schemas.openxmlformats.org/officeDocument/2006/relationships" id="263" r:id="R1193eebafe7f4f7f"/>
    <p:sldId xmlns:r="http://schemas.openxmlformats.org/officeDocument/2006/relationships" id="264" r:id="R00869f16a9eb4161"/>
    <p:sldId xmlns:r="http://schemas.openxmlformats.org/officeDocument/2006/relationships" id="265" r:id="R93ac565b09674c1e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f4e7c97ba34ca9" /><Relationship Type="http://schemas.openxmlformats.org/officeDocument/2006/relationships/slideMaster" Target="/ppt/slideMasters/slideMaster1.xml" Id="Rc89d594dff6947d0" /><Relationship Type="http://schemas.openxmlformats.org/officeDocument/2006/relationships/notesMaster" Target="/ppt/notesMasters/notesMaster1.xml" Id="R3271afa757384f70" /><Relationship Type="http://schemas.openxmlformats.org/officeDocument/2006/relationships/presProps" Target="/ppt/presProps.xml" Id="Re97ba79ce1c34e87" /><Relationship Type="http://schemas.openxmlformats.org/officeDocument/2006/relationships/viewProps" Target="/ppt/viewProps.xml" Id="R7fc06189accb4d0f" /><Relationship Type="http://schemas.openxmlformats.org/officeDocument/2006/relationships/tableStyles" Target="/ppt/tableStyles.xml" Id="R4535daa388e24f37" /><Relationship Type="http://schemas.openxmlformats.org/officeDocument/2006/relationships/slide" Target="/ppt/slides/slide1.xml" Id="R5f8c83d17de442b1" /><Relationship Type="http://schemas.openxmlformats.org/officeDocument/2006/relationships/slide" Target="/ppt/slides/slide2.xml" Id="R3c55429fd3f7409a" /><Relationship Type="http://schemas.openxmlformats.org/officeDocument/2006/relationships/slide" Target="/ppt/slides/slide3.xml" Id="R9bbdaeb668a240eb" /><Relationship Type="http://schemas.openxmlformats.org/officeDocument/2006/relationships/slide" Target="/ppt/slides/slide4.xml" Id="Rd96fb5fac7864804" /><Relationship Type="http://schemas.openxmlformats.org/officeDocument/2006/relationships/slide" Target="/ppt/slides/slide5.xml" Id="R229b42befc4d4cf7" /><Relationship Type="http://schemas.openxmlformats.org/officeDocument/2006/relationships/slide" Target="/ppt/slides/slide6.xml" Id="Rec2053107bbb40c1" /><Relationship Type="http://schemas.openxmlformats.org/officeDocument/2006/relationships/slide" Target="/ppt/slides/slide7.xml" Id="R90c83184ea524a4d" /><Relationship Type="http://schemas.openxmlformats.org/officeDocument/2006/relationships/slide" Target="/ppt/slides/slide8.xml" Id="R1193eebafe7f4f7f" /><Relationship Type="http://schemas.openxmlformats.org/officeDocument/2006/relationships/slide" Target="/ppt/slides/slide9.xml" Id="R00869f16a9eb4161" /><Relationship Type="http://schemas.openxmlformats.org/officeDocument/2006/relationships/slide" Target="/ppt/slides/slide10.xml" Id="R93ac565b0967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8ac7db016e4e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59191281af4b6b" /><Relationship Type="http://schemas.openxmlformats.org/officeDocument/2006/relationships/notesMaster" Target="/ppt/notesMasters/notesMaster1.xml" Id="Re5c8f3d3e03640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73fec82c541d0" /><Relationship Type="http://schemas.openxmlformats.org/officeDocument/2006/relationships/notesMaster" Target="/ppt/notesMasters/notesMaster1.xml" Id="Rade89cdc9fff4c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8f19dab0d0495c" /><Relationship Type="http://schemas.openxmlformats.org/officeDocument/2006/relationships/notesMaster" Target="/ppt/notesMasters/notesMaster1.xml" Id="Rda971ecd3c6446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693d4fb6894cff" /><Relationship Type="http://schemas.openxmlformats.org/officeDocument/2006/relationships/notesMaster" Target="/ppt/notesMasters/notesMaster1.xml" Id="Rcc423de134d042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da7d5d36b54a79" /><Relationship Type="http://schemas.openxmlformats.org/officeDocument/2006/relationships/notesMaster" Target="/ppt/notesMasters/notesMaster1.xml" Id="R7daa9d830e2b45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e22b00e3244d96" /><Relationship Type="http://schemas.openxmlformats.org/officeDocument/2006/relationships/notesMaster" Target="/ppt/notesMasters/notesMaster1.xml" Id="R5b1a7586307043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ba292736ab4dd6" /><Relationship Type="http://schemas.openxmlformats.org/officeDocument/2006/relationships/notesMaster" Target="/ppt/notesMasters/notesMaster1.xml" Id="Rf3a01e8beae946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f959c2fbe54640" /><Relationship Type="http://schemas.openxmlformats.org/officeDocument/2006/relationships/notesMaster" Target="/ppt/notesMasters/notesMaster1.xml" Id="R108661e5e6ea43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c650669bb14c08" /><Relationship Type="http://schemas.openxmlformats.org/officeDocument/2006/relationships/notesMaster" Target="/ppt/notesMasters/notesMaster1.xml" Id="R8b6c43d8320940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096d5188ba465e" /><Relationship Type="http://schemas.openxmlformats.org/officeDocument/2006/relationships/notesMaster" Target="/ppt/notesMasters/notesMaster1.xml" Id="R0c44f7a8af424f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VERITAS-lite. Source basis: repository review and user-provided screenshots, 03 October 2026. The leader name Ammar Ayaz was specified by the user; member names were read from the supplied reference deck.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user-provided campaign screenshots and repository review. These are product trust issues and observed UI/API gaps, not live service status.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backend/orchestration/graph.py and backend/environment/custom_sut.py. Custom SUT uses simulated, in-memory tools.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backend/orchestration/graph.py and security gate registry. Attack families listed are represented in the workflow; report measurements can be unavailable.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campaign setup, overview, campaign list, campaign detail, and TraceExplorer UI. The sequence describes intended operator flow; route consistency is a known integration priority.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one completed campaign detail screenshot supplied by the user. It showed ASR 40% before and 0% after, normal-task accuracy 100% before and after, 5 attack steps, 23 traces, 2 patches, and 0 regression tests added. Held-out baseline displayed 0%; the UI warned this may be an unverified default. This is a single stored run, not a product benchmark.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backend/api/main.py, backend/orchestration/graph.py, backend/environment/custom_sut.py, backend/core/redactor.py, frontend/vite.config.ts, and frontend/nginx.conf. SQLite is the default campaign database in the reviewed configuration.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campaign configuration, security gate registry, backend/environment/custom_sut.py, and backend/environment/agentdojo_env.py. Release priorities are recommendations, not completed work.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team names from slide 9 of the user-provided reference deck. Team leader Ammar Ayaz was explicitly specified by the user.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proposed next steps from the project review and PRD. These are release priorities, not claims that the fixes are already implemented.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871f1328c4b5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ba247cf4bb4786" /><Relationship Type="http://schemas.openxmlformats.org/officeDocument/2006/relationships/slideLayout" Target="/ppt/slideLayouts/slideLayout1.xml" Id="R5f2763138c29407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2763138c29407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bcd0ac3cb45dc" /><Relationship Type="http://schemas.openxmlformats.org/officeDocument/2006/relationships/notesSlide" Target="/ppt/notesSlides/notesSlide1.xml" Id="Rcf2e00bce1df4a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51864ad2141b5" /><Relationship Type="http://schemas.openxmlformats.org/officeDocument/2006/relationships/image" Target="/ppt/media/image.png" Id="R6203a7c6f8214a93" /><Relationship Type="http://schemas.openxmlformats.org/officeDocument/2006/relationships/image" Target="/ppt/media/image2.png" Id="R96bf9065055e4692" /><Relationship Type="http://schemas.openxmlformats.org/officeDocument/2006/relationships/notesSlide" Target="/ppt/notesSlides/notesSlide2.xml" Id="R496d29f3f79a47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e649cc9754836" /><Relationship Type="http://schemas.openxmlformats.org/officeDocument/2006/relationships/image" Target="/ppt/media/image3.png" Id="R093de33f930548b2" /><Relationship Type="http://schemas.openxmlformats.org/officeDocument/2006/relationships/image" Target="/ppt/media/image4.png" Id="Rfee6cfacb8ce487e" /><Relationship Type="http://schemas.openxmlformats.org/officeDocument/2006/relationships/image" Target="/ppt/media/image5.png" Id="R42c431c7dfdc4231" /><Relationship Type="http://schemas.openxmlformats.org/officeDocument/2006/relationships/notesSlide" Target="/ppt/notesSlides/notesSlide3.xml" Id="R71ea5e32a83d4a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a1e0fe66945d1" /><Relationship Type="http://schemas.openxmlformats.org/officeDocument/2006/relationships/notesSlide" Target="/ppt/notesSlides/notesSlide4.xml" Id="Rad0bfee03a3b48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3d8932c144ca2" /><Relationship Type="http://schemas.openxmlformats.org/officeDocument/2006/relationships/notesSlide" Target="/ppt/notesSlides/notesSlide5.xml" Id="R07db3f0560ea49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36f84de544bcc" /><Relationship Type="http://schemas.openxmlformats.org/officeDocument/2006/relationships/notesSlide" Target="/ppt/notesSlides/notesSlide6.xml" Id="R7b5238eb5f6949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453f320b24669" /><Relationship Type="http://schemas.openxmlformats.org/officeDocument/2006/relationships/image" Target="/ppt/media/image6.png" Id="R14b07128912e4beb" /><Relationship Type="http://schemas.openxmlformats.org/officeDocument/2006/relationships/image" Target="/ppt/media/image7.png" Id="Rb8509ac160694b04" /><Relationship Type="http://schemas.openxmlformats.org/officeDocument/2006/relationships/image" Target="/ppt/media/image8.png" Id="Rf051704e31dc42cf" /><Relationship Type="http://schemas.openxmlformats.org/officeDocument/2006/relationships/image" Target="/ppt/media/image9.png" Id="Rab4f24d6c592469e" /><Relationship Type="http://schemas.openxmlformats.org/officeDocument/2006/relationships/notesSlide" Target="/ppt/notesSlides/notesSlide7.xml" Id="R62af2e1fbacd46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e9f758bfa4138" /><Relationship Type="http://schemas.openxmlformats.org/officeDocument/2006/relationships/notesSlide" Target="/ppt/notesSlides/notesSlide8.xml" Id="Ref74c2cd232f4e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78054a2f34666" /><Relationship Type="http://schemas.openxmlformats.org/officeDocument/2006/relationships/notesSlide" Target="/ppt/notesSlides/notesSlide9.xml" Id="Rfdf98bd44cc24c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b425282444fa9" /><Relationship Type="http://schemas.openxmlformats.org/officeDocument/2006/relationships/notesSlide" Target="/ppt/notesSlides/notesSlide10.xml" Id="Rac50fd80255048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C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9C836E-93FC-4501-B5A4-65605169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-109728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2A3F">
              <a:alpha val="60000"/>
            </a:srgbClr>
          </a:solidFill>
          <a:ln xmlns:a="http://schemas.openxmlformats.org/drawingml/2006/main" w="12700">
            <a:solidFill>
              <a:srgbClr val="0B1C2E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D4A76BF-0398-4C28-A82E-82A1109A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6032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0">
              <a:alpha val="65000"/>
            </a:srgbClr>
          </a:solidFill>
          <a:ln xmlns:a="http://schemas.openxmlformats.org/drawingml/2006/main" w="12700">
            <a:solidFill>
              <a:srgbClr val="0B1C2E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4456CAA-6B3E-4034-8604-1DB3259E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14630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12700">
            <a:solidFill>
              <a:srgbClr val="14B8A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A586A30-9DDC-4291-8362-A2F635C3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772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VERITAS-LITE</a:t>
            </a:r>
            <a:endParaRPr sz="3600"/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AGENT SECURITY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ACC933C-D485-4DD7-AEBA-D9DC04AB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for Agent Reliability</a:t>
            </a:r>
            <a:endParaRPr sz="2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A077DA0-ED9D-407D-A494-012084D7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6858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 controlled workflow to find weaknesses, apply defenses,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and measure security and normal-task results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944A15F-7C15-4F91-8911-B693E7C0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34840"/>
            <a:ext cx="914400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F"/>
          </a:solidFill>
          <a:ln xmlns:a="http://schemas.openxmlformats.org/drawingml/2006/main" w="12700">
            <a:solidFill>
              <a:srgbClr val="06121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DF5F4C7-D45A-445C-BEC3-B2C24C45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Ammar Ayaz  ·  Team Leader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1EE2701-C29E-49F5-9F22-7D6DDD84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7316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Pak Angels Cohort 11  ·  VERITAS-lite Project  ·  October 2026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0A42734-34BE-408C-86E4-C9353BDA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64515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PROJECT PRESENTATION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51223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1A6DC6F-DFF5-4B1D-A2BF-014175E4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C2E"/>
          </a:solidFill>
          <a:ln xmlns:a="http://schemas.openxmlformats.org/drawingml/2006/main" w="12700">
            <a:solidFill>
              <a:srgbClr val="0B1C2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92C82D-E598-4767-8D27-DA35A7FB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Agent Evaluation Trust Gap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2E0D2B-2ABF-459E-A61A-A6A04144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 campaign result is useful only when the run, the evidence, and the measurement can be trusted.</a:t>
            </a:r>
            <a:endParaRPr sz="1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9515467-C087-4BA5-A072-F3BB4A68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0"/>
            <a:ext cx="3977640" cy="265176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52400" dist="381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F789B0D-3449-43B2-88CF-BE0A88A9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0"/>
            <a:ext cx="9144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3a7c6f821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8288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14C8CA9-4CCC-47D9-9B6E-A7783F41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87452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Opaque Campaign Outcomes</a:t>
            </a:r>
            <a:endParaRPr sz="1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C85BD3C-ACBF-4235-9621-EA1DBBB5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33832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Runs can fail before producing a complete report</a:t>
            </a:r>
            <a:endParaRPr sz="1300"/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Failure status may not explain the cause</a:t>
            </a:r>
            <a:endParaRPr sz="1300"/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Trace totals can be visible without a usable detail path</a:t>
            </a:r>
            <a:endParaRPr sz="1300"/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Frontend and backend route expectations need to match</a:t>
            </a:r>
            <a:endParaRPr sz="13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3C3DB90-0368-4FC4-80DA-6A583D0B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645920"/>
            <a:ext cx="3977640" cy="265176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52400" dist="381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467C3D1-21E9-4BBD-B720-FE550A57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645920"/>
            <a:ext cx="9144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pic>
        <p:nvPicPr>
          <p:cNvPr id="2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f9065055e4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0" y="18288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AC29C77-F58F-4994-BFE8-3D6C86BB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87452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Misleading Result Signals</a:t>
            </a:r>
            <a:endParaRPr sz="16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2306A91-641E-4F96-8A76-C3FC8059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77440"/>
            <a:ext cx="33832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An unmeasured held-out value can appear as 0%</a:t>
            </a:r>
            <a:endParaRPr sz="1300"/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Token budget is shown, but usage is not reported</a:t>
            </a:r>
            <a:endParaRPr sz="1300"/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Simulated results do not establish live-agent safety</a:t>
            </a:r>
            <a:endParaRPr sz="1300"/>
          </a:p>
          <a:p xmlns:a="http://schemas.openxmlformats.org/drawingml/2006/main">
            <a:pPr marL="0" indent="0">
              <a:spcAft>
                <a:spcPts val="800"/>
              </a:spcAft>
              <a:buNone/>
            </a:pPr>
            <a:r>
              <a:rPr sz="13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One saved campaign is a run, not a product benchmark</a:t>
            </a:r>
            <a:endParaRPr sz="13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1FC80FF-CC80-4F2C-83BC-BD2A012C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803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VERITAS-lite  ·  Agent Reliability Evaluation</a:t>
            </a:r>
            <a:endParaRPr sz="10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85C4A98-12AC-4F4F-8A3B-8D576DC9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56418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947EDE-AC99-4BEE-BD25-A63F9B80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C2E"/>
          </a:solidFill>
          <a:ln xmlns:a="http://schemas.openxmlformats.org/drawingml/2006/main" w="12700">
            <a:solidFill>
              <a:srgbClr val="0B1C2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905C18-736E-46E7-90CD-C3D63797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One Campaign. Security. Utility. Evidence.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64A299-D619-45F5-864A-60D1CBD8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VERITAS-lite links attack execution to defense, retesting, and a reviewable campaign report.</a:t>
            </a:r>
            <a:endParaRPr sz="1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45B81B-C2BA-450C-8CC1-1CCBEC75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2697480" cy="283464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270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A3B02A1-DE31-4F04-9AA9-1B1DC29C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78308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BF1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de33f9305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480" y="192024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E170523-9628-4D47-8825-678811DD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97480"/>
            <a:ext cx="2423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Simulated Test Environment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30F477C-5643-4288-81A8-45F62376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154680"/>
            <a:ext cx="2377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Custom SUT runs mock web search, in-memory file writes, and message logging. The tools do not perform real external actions.</a:t>
            </a:r>
            <a:endParaRPr sz="12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2203C61-C63B-4C0B-8208-33895E25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54480"/>
            <a:ext cx="2697480" cy="283464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270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F1FFC73-C9C8-41E6-83D8-4686A2B2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78308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BF1"/>
          </a:solidFill>
        </p:spPr>
      </p:sp>
      <p:pic>
        <p:nvPicPr>
          <p:cNvPr id="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6cfacb8ce48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0" y="192024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B6570BA-74C1-4706-97DE-B1C934D9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97480"/>
            <a:ext cx="2423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Adversarial Workflow</a:t>
            </a:r>
            <a:endParaRPr sz="14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D81233A-56BF-4128-948D-8CA7ACBC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154680"/>
            <a:ext cx="2377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LangGraph coordinates baseline tasks, attack execution, verification, defense proposals, patching, and retests.</a:t>
            </a:r>
            <a:endParaRPr sz="12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369AF145-0912-43A1-BDEE-8AF65733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54480"/>
            <a:ext cx="2697480" cy="283464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270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0259CB5-DC31-4B7E-AD8F-0DAE7BA3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8308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BF1"/>
          </a:solidFill>
        </p:spPr>
      </p:sp>
      <p:pic>
        <p:nvPicPr>
          <p:cNvPr id="4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431c7dfdc42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3760" y="192024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C7FBB857-8464-4D26-80B7-0211D1CA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697480"/>
            <a:ext cx="2423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Security + Utility Evidence</a:t>
            </a:r>
            <a:endParaRPr sz="14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C3714D7E-48F3-462D-A5A1-123FA286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154680"/>
            <a:ext cx="2377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Reports compare attack success with normal-task accuracy and link outcomes to campaign traces and patch identifiers.</a:t>
            </a:r>
            <a:endParaRPr sz="120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AFDEA2E9-7DD9-408B-84DF-C18F4C66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803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VERITAS-lite  ·  Agent Reliability Evaluation</a:t>
            </a:r>
            <a:endParaRPr sz="10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41954CC1-B21B-4ACC-8E78-738BA00D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190238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79F75FF-44A0-4FEE-83E0-1B02FB22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C2E"/>
          </a:solidFill>
          <a:ln xmlns:a="http://schemas.openxmlformats.org/drawingml/2006/main" w="12700">
            <a:solidFill>
              <a:srgbClr val="0B1C2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2EFB58-7295-47B6-B45D-A61709CC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From Baseline to Final Report</a:t>
            </a:r>
            <a:endParaRPr sz="2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8EAA6AB-963B-4E7B-B732-492AFE50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15544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C2E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DCE2EB-9990-4B08-9555-FBC51F9D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70432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01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7937B33-B02D-49A0-B56A-1D1D91E9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417320"/>
            <a:ext cx="1463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Baseline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Tasks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C10E4C2-B8C9-41EC-BD31-08C9F746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1463040"/>
            <a:ext cx="164592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419018A-08FE-4D10-ABF2-3D38D32E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097280"/>
            <a:ext cx="15544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C2E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8E76ED7-6E9D-468F-8A6E-146CB8FF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170432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02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E99D8C-B496-4EDF-9563-94707D0A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417320"/>
            <a:ext cx="1463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Generate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Attacks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96C7136-7D81-4D92-BA9D-50543C8F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1463040"/>
            <a:ext cx="164592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82EFC24-4EE4-45FA-925B-99D20DEF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097280"/>
            <a:ext cx="15544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C2E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5DD8829-CD3A-403F-A650-C5DA401F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170432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03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7F6BCFF-EE8B-49F1-9E4F-90488566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417320"/>
            <a:ext cx="1463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Verify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Violations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DF34935-475E-4956-AC58-0520D316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1463040"/>
            <a:ext cx="164592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E39B528-6FAA-4AD7-A698-4A8C3025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097280"/>
            <a:ext cx="15544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C2E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6D65B2D-218D-41E7-B574-7A97FCC5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170432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04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A8D9431-8768-4D0E-90FE-794C1C91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417320"/>
            <a:ext cx="1463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 &amp;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Apply Patch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1B2D15F-9B11-40DA-A8BC-EBF98D5B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463040"/>
            <a:ext cx="164592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B8A6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5717F41-9883-446E-BD7B-E1D4F50C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97280"/>
            <a:ext cx="15544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C2E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D7C0DC0-2945-4793-AC2E-0CEB538B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170432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05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C78BE07-9587-4AFC-98BA-9A19B31F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417320"/>
            <a:ext cx="1463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Retest &amp;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Report</a:t>
            </a:r>
            <a:endParaRPr sz="13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E2FDED8-AECE-454F-B0AE-36277F19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77440"/>
            <a:ext cx="274320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FFF2EB9-B4E4-4A23-8DD4-A35F0F9E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77440"/>
            <a:ext cx="27432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6E704B0-D0B6-44FC-BD73-D836DEC3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Attack Families</a:t>
            </a:r>
            <a:endParaRPr sz="15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8CD7D38-21E0-40CC-A224-55607250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24688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Direct injection, indirect injection, and goal hijacking are represented in the configured evaluation workflow.</a:t>
            </a:r>
            <a:endParaRPr sz="12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ACCEEB7-9B0B-4567-8D5C-6BFB615B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377440"/>
            <a:ext cx="274320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9B0033D-5ADD-45D8-8DAA-D3908928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377440"/>
            <a:ext cx="27432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821B40D-165C-44AF-B058-7AA9081A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60604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Verification Gates</a:t>
            </a:r>
            <a:endParaRPr sz="15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E02005C-E39D-49E0-B8BF-B27E3BFD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17520"/>
            <a:ext cx="24688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Seven built-in checks cover tool policy, arguments, output schema, injection, exfiltration, regression, and trace completeness.</a:t>
            </a:r>
            <a:endParaRPr sz="12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D1A5C88-2BC6-4CC6-A634-7C89D029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77440"/>
            <a:ext cx="274320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670CC03-3981-4E05-B898-1A75F146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77440"/>
            <a:ext cx="27432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7DFD3C3-EA07-427C-951E-81BB84DE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60604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Retest Evidence</a:t>
            </a:r>
            <a:endParaRPr sz="15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0A6CC39-D695-462B-8847-A8C907E7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017520"/>
            <a:ext cx="24688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The workflow includes training and held-out attack retests, normal-task checks, traces, and patch records.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F3ECE72-95FC-4EAF-84A3-491AF90D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803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VERITAS-lite  ·  Agent Reliability Evaluation</a:t>
            </a:r>
            <a:endParaRPr sz="10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C749FA5-EF55-4A77-B4FE-89B0D8DC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96171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1837D77-D365-40D6-9070-B4187AFB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C2E"/>
          </a:solidFill>
          <a:ln xmlns:a="http://schemas.openxmlformats.org/drawingml/2006/main" w="12700">
            <a:solidFill>
              <a:srgbClr val="0B1C2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8782F9-3754-4990-BE69-371B544B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Controlled Campaigns. Observable Results.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9AEFB5-0B95-4709-8EBD-F30D6D4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Campaign Journey</a:t>
            </a:r>
            <a:endParaRPr sz="1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440F0A-F5CA-4BB8-A734-9E1BE2CA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C2E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4EE5B90-C388-4601-A942-4A325415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3840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01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A9832F1-BDB9-40C1-AE69-00A4649E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Configure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817D2F2-62DF-44CB-A51A-7B91E2D2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618488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Select simulated SUT, attack families, and run limits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DA6CA5C-A176-4060-BE2C-EF54AA24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42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C2E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0EE75D-E3AA-4E6F-8D1F-243F12C1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9968"/>
            <a:ext cx="3840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02</a:t>
            </a:r>
            <a:endParaRPr sz="1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2369369-7321-4493-BDB2-1F8F11B9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84248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Launch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3078793-71B9-427B-A2B6-F795554E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85416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Create a campaign with the reviewed settings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B468C35-E76B-40FA-929E-1EAB3168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117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C2E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F6209CD-1C2F-4534-9AB9-3AF9E686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6896"/>
            <a:ext cx="3840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03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195FA07-A10E-42EF-ACDA-AF2A5E02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51176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Monitor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462AA0-F481-44C6-B410-15569979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52344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Track current phase, status, steps, and updates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6303880-029C-4A93-BE43-4E1A325E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810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C2E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8AF35E6-7238-40A9-AB23-E6101EC9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3824"/>
            <a:ext cx="3840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04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E4225DB-ADCB-44FF-A7AA-296E2465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18104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Inspect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490B2FD-D24E-424D-A64D-7A69CC99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19272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Open campaign traces and filter by phase</a:t>
            </a:r>
            <a:endParaRPr sz="12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C868CC5-4E1D-49F9-976E-D9EC7D0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50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C2E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2A45D0-2BBB-4B9B-B3BF-E0146E88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0752"/>
            <a:ext cx="3840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05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A1B8852-1BEC-4F0A-915E-A4F6E7B7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85032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Review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CA3DA73-19F8-464A-B761-9DEBE61F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862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Compare results, read the report, and manage history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500042A-B9E0-4801-9C20-77838E1A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05156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Workspace Controls</a:t>
            </a:r>
            <a:endParaRPr sz="16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D6C5161-7DDB-45E3-9860-90BB5DA1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63040"/>
            <a:ext cx="38404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2D7ED1C-78B9-49FF-BC89-19C6365A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7276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Campaign History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701CE14-6225-468B-A9A0-F0E0392C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088"/>
            <a:ext cx="3474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Search by campaign ID, filter by status, open details, or delete a run.</a:t>
            </a:r>
            <a:endParaRPr sz="12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1EBD693-0832-4798-918F-86C90484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423160"/>
            <a:ext cx="38404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BB6C86B-34B7-46FA-B7ED-3F1FD627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288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Trace Explorer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13B595C-3C1D-45EF-A674-3D39048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7208"/>
            <a:ext cx="3474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Search redacted traces by task or tool, filter by phase, and browse paginated results.</a:t>
            </a:r>
            <a:endParaRPr sz="12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4E8111C-CF1A-476B-885C-DAF57F50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383280"/>
            <a:ext cx="38404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12700" dir="8100000" sx="100000" sy="100000" kx="0" ky="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1580159-5E10-4C0E-91BD-AF65B914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930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Evaluation Report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CBE54F6-1EEA-4FE3-8F12-75224F65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67328"/>
            <a:ext cx="3474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Review before-and-after measures, patch identifiers, held-out status, and limitations.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A4419D70-DE75-4470-9AA8-DB7054C6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803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VERITAS-lite  ·  Agent Reliability Evaluation</a:t>
            </a:r>
            <a:endParaRPr sz="10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1E8DE07-B60E-42C8-9550-21AB7C09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70035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39DDD45-4530-495D-BE46-2E4D7680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C2E"/>
          </a:solidFill>
          <a:ln xmlns:a="http://schemas.openxmlformats.org/drawingml/2006/main" w="12700">
            <a:solidFill>
              <a:srgbClr val="0B1C2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884653-174D-4D55-ACE3-EF2E1121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Campaign Record, Not a Benchmark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B32C473-DEFC-4F0F-84BF-D9CFCBBD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397764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C2E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0BE310E-CAF4-469B-A943-2F69C9E6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3977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40% → 0%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06517B5-D2C9-4535-8930-F55BB221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1640"/>
            <a:ext cx="3977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Attack Success Rate  ·  One Recorded Campaign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EF9D4E7-D9ED-48E1-879B-E4D39B24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051560"/>
            <a:ext cx="397764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C2E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47EDCE4-F526-45AC-9289-271743A8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188720"/>
            <a:ext cx="3977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100% → 100%</a:t>
            </a:r>
            <a:endParaRPr sz="3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581257-7F61-4B5E-8B94-14107EAE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691640"/>
            <a:ext cx="3977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Normal-Task Accuracy  ·  Same Campaign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C3D0EDB-4F3B-4141-A167-E0275937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822960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C2E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5397E7D-2932-4CE1-BB5D-0AE8E824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41448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Item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A3B579-7873-4F00-B9A9-0A390D8A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4144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Recorded Value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3EDADB-458F-4DF9-A7D2-EAFE41F5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4144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Interpretation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5B4E9FB-A4BC-45B8-90A7-F2C81014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82296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ECD3A02-8E3D-425F-B79F-052465AC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ASR change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E2B3D53-5F7B-4BBA-A371-E5E823D9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88036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40% → 0%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72E98EE-84A8-49AA-ACAD-922AB069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88036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One saved campaign report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EA16AB8-D8C5-461E-99E5-F0658509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7832"/>
            <a:ext cx="82296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690DC01-BA77-4975-BCA3-2CC737AE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19272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Normal-task accuracy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34E851E-5FB7-44CB-BE1C-C0BAD766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319272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100% → 100%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09DB2AD-6314-4CCC-BC67-478FEA8D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31927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No reported drop in this run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2E33606-2778-4A0B-AEA4-F0B98F63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6744"/>
            <a:ext cx="82296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2982BFD-4D05-424E-9682-5AFCFC5F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58184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Workflow evidence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0391B89-802E-4CF6-B179-E5018FA1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758184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5 steps · 23 traces · 2 patches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8B2FD97-E208-47A7-B88C-6BE3393C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758184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0 regression tests added</a:t>
            </a:r>
            <a:endParaRPr sz="12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CF601FC-C694-462D-BF7B-FD7E281E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656"/>
            <a:ext cx="82296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093A8A1-797C-48FA-9588-2A98726E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97096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Held-out baseline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487B091-93BA-41F5-9A96-197F3508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197096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0% displayed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7D5F91C-AF4A-443A-8B35-CB5254E0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197096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Unverified; may be a default value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0AE46C3-67AC-4645-8E8E-07634F8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803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Single saved run  ·  Held-out 0% may be a default  ·  Not a benchmark</a:t>
            </a:r>
            <a:endParaRPr sz="10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25C909F-A4C9-4840-B172-4D28DF30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9247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0EE73D7-9486-4381-BC5C-7789F132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C2E"/>
          </a:solidFill>
          <a:ln xmlns:a="http://schemas.openxmlformats.org/drawingml/2006/main" w="12700">
            <a:solidFill>
              <a:srgbClr val="0B1C2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F57E845-C05E-42E4-9175-03E52176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Practical Evaluation Architecture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D437A89-AF54-4A61-8001-63326E3B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406908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DFE241-B9A5-4F2D-BFF7-64B3A7B0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BF1"/>
          </a:solidFill>
        </p:spPr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07128912e4b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1527048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D0FAC43-3FDA-430D-B612-968FF719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280160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Model Providers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36B3EF6-67EF-4A75-998C-193C2601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600200"/>
            <a:ext cx="2880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Backend configuration supports OpenAI, Anthropic, and Groq providers. Credentials remain server-side.</a:t>
            </a:r>
            <a:endParaRPr sz="12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7588108-E930-454B-88E8-0457D9A2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097280"/>
            <a:ext cx="406908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F6D0BAF-E957-41E3-971E-79FF9AFB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173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BF1"/>
          </a:solidFill>
        </p:spPr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09ac160694b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7488" y="1527048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CEB87F60-0BC0-4D26-9AA6-25CCBFEB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280160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Campaign Orchestration</a:t>
            </a:r>
            <a:endParaRPr sz="15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6A62F4A-381C-4A06-86EC-628F0579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600200"/>
            <a:ext cx="2880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FastAPI accepts campaigns; LangGraph coordinates baseline, attack, verifier, defense, patch, and retest stages.</a:t>
            </a:r>
            <a:endParaRPr sz="12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F6AC7A3-2FE8-47CA-B784-C3B795E3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406908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311EAD2-2644-4DE0-BACC-6DD5F942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BF1"/>
          </a:solidFill>
        </p:spPr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1704e31dc42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3127248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2BB0F503-A924-4F33-B09A-1B580366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880360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Simulated SUT &amp; Gates</a:t>
            </a:r>
            <a:endParaRPr sz="15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8DFD2EF4-F419-4CE1-B120-05278356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00400"/>
            <a:ext cx="2880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Custom SUT supplies mock search, in-memory file writes, and message logging. Built-in gates check policy and evidence.</a:t>
            </a:r>
            <a:endParaRPr sz="12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5E8E66EB-FBDE-470B-9509-763D01C8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97480"/>
            <a:ext cx="4069080" cy="141732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4128B9DE-5E52-4C0F-B3DC-0B87A5C9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0175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BF1"/>
          </a:solidFill>
        </p:spPr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f24d6c59246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7488" y="3127248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70D6F268-6313-409E-9EA5-DD42301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880360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Workspace &amp; Evidence</a:t>
            </a:r>
            <a:endParaRPr sz="15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082745F8-69BE-4761-8B0B-00B40AF6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200400"/>
            <a:ext cx="2880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Vite frontend connects to the campaign API, SQLite records, metrics, reports, and redacted traces.</a:t>
            </a:r>
            <a:endParaRPr sz="120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BB592E3-5EBD-4534-8729-A74C08BF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803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VERITAS-lite  ·  Agent Reliability Evaluation</a:t>
            </a:r>
            <a:endParaRPr sz="10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4E5A429B-E066-4197-9AE0-ED04E768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34955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2CCDD4-7127-44AF-B6CA-48D5693A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C2E"/>
          </a:solidFill>
          <a:ln xmlns:a="http://schemas.openxmlformats.org/drawingml/2006/main" w="12700">
            <a:solidFill>
              <a:srgbClr val="0B1C2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F62CA4-760A-4425-A386-2312B8F3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Evaluation Coverage and Release Priorities</a:t>
            </a:r>
            <a:endParaRPr sz="2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BC8D4CD-C75E-4B8C-895E-355F23D5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274320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1C2E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0DEC0BA-0C3A-4104-9D6E-C0CC3682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2743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3</a:t>
            </a:r>
            <a:endParaRPr sz="2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DA8230-47F2-49B6-B70D-C60B7307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16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Attack Families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4B551A9-251B-41CC-9BE3-47E405A7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Direct · indirect · goal hijack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52A55EB-F915-4A76-B298-5E946264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051560"/>
            <a:ext cx="274320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1C2E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02CABE-0EEB-4AA0-9B26-AD027C3B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188720"/>
            <a:ext cx="2743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7</a:t>
            </a:r>
            <a:endParaRPr sz="2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93218DF-BE12-42BF-BAB5-752F9A43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6916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Built-In Gates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47480AE-94C5-4024-997A-6D6E8EB8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96596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Policy · injection · regression · trace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B79E122-0734-4B57-9748-4C66F0B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051560"/>
            <a:ext cx="274320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1C2E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08EA93D-6E0A-40E4-B079-3EF916DA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88720"/>
            <a:ext cx="2743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3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8B05637-8890-4A1E-A7D0-EAA844C2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In-Memory Tools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532977F-7641-4D54-8D6F-67DAC7E7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6596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Search · file · message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86FBDBD-5AE2-48A5-AB90-3EC4BD6E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7315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509B8F6-754D-4D1F-B592-D1A43DB3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06040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Current Evaluation Boundary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D9D9DE0-68C0-422C-8B58-813CFA53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6207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Custom SUT runs three mock tools in memory. This workflow is not a safety guarantee for a live agent.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7D03149-983A-49D5-AD03-3CA2A7D1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7315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7F63033-4659-4EF4-8A15-0B1C60F9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46120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Integration Reliability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3994574-51B3-4ACF-9EBA-D3C63FB3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0215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Align browser, API, proxy, and health routes; keep campaign history in one predictable database.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71AAF08-2F08-455C-8847-B50B3451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7315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4D5617A-E34C-487D-9F41-43FDE0C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86200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Evidence Quality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9E2C9B6-8076-4CA1-96E2-A8B983B2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4223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Distinguish missing metrics from zero, explain failed runs, and enforce and report the token budget.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064D73B-DB36-4E8B-9CF1-33917EE4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803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VERITAS-lite  ·  Agent Reliability Evaluation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E563F2D-62E4-4268-B415-D90A98C7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531644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77A77DE-80E6-4CCA-A690-7FD215B2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C2E"/>
          </a:solidFill>
          <a:ln xmlns:a="http://schemas.openxmlformats.org/drawingml/2006/main" w="12700">
            <a:solidFill>
              <a:srgbClr val="0B1C2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F466FF-8F38-4B02-B679-B700311C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Team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ACAE0B4-4EEB-4AFD-9E92-A5F8A090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Building VERITAS-lite to evaluate agent security, preserve normal-task utility, and make evidence reviewable.</a:t>
            </a:r>
            <a:endParaRPr sz="1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A2C2C79-0FA8-4B5B-B019-11CB70A2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0"/>
            <a:ext cx="2011680" cy="219456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270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1477DF2-10A1-4326-98E1-A95EEA4C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2024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C2E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EECEB-CECF-485E-8382-15E95342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94560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AA</a:t>
            </a:r>
            <a:endParaRPr sz="2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2DE394-1904-4291-A8BE-7749A629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Ammar Ayaz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236C18-729E-44F5-A5DB-91B461E3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Team Leader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C3EC23A-FACD-4E02-8393-ABE39EAE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645920"/>
            <a:ext cx="2011680" cy="219456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270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B8D238F-155D-461E-B381-75772737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92024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C2E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7681043-D461-4F1E-B793-9F41BAEC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194560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FS</a:t>
            </a:r>
            <a:endParaRPr sz="2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307CB3C-D546-443C-BBDF-5F7A7F3B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108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Fatima Shahzad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E92482A-B431-4918-BE26-986E079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38328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Team Member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EFA299E-5533-4AD1-9A3F-58BD4EED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45920"/>
            <a:ext cx="2011680" cy="219456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270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333C634-DC68-4310-9D39-6B873347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024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C2E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A85D91B-8A61-448A-B287-1EE2E719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94560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MS</a:t>
            </a:r>
            <a:endParaRPr sz="2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7B5E6F3-27FD-45FC-BB03-D44FE410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108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Muhsin Shah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FB1DD15-2126-4EB9-B561-5BC47646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38328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Team Member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3511F99-A645-410A-86BA-082688B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645920"/>
            <a:ext cx="2011680" cy="219456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270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99B9AA8-CC54-4E0D-B9DD-6275F0B7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92024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C2E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0EB0053-1F54-4299-B94E-A2D02DC4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94560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AK</a:t>
            </a:r>
            <a:endParaRPr sz="2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BBED982-D55B-4D44-86A1-9A95E4B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108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Areeba Khan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20D5F0D-8161-4AB8-AA48-1A92EFC6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38328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Team Member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AAC9BD3-98C4-4473-8FA5-15303379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8032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Pak Angels Cohort 11  ·  VERITAS-lite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192CF14-6B9F-4108-91F2-A9313F55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80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9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7393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C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4068F3E-3CCA-4607-85DA-F75382CE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-13716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2A3F">
              <a:alpha val="6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4DB4E33-7292-4181-9A5F-EB2A482E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850">
              <a:alpha val="6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EB3027-F9E0-4202-9ACF-354D5AD1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7772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Trustworthy Evaluation Results</a:t>
            </a:r>
            <a:endParaRPr sz="2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DD45E55-C2B8-4730-928B-CA76649F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7772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5EEAD4"/>
                </a:solidFill>
                <a:latin typeface="Georgia"/>
                <a:ea typeface="Georgia"/>
                <a:cs typeface="Georgia"/>
              </a:rPr>
              <a:t>VERITAS-lite's release standard: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5EEAD4"/>
                </a:solidFill>
                <a:latin typeface="Georgia"/>
                <a:ea typeface="Georgia"/>
                <a:cs typeface="Georgia"/>
              </a:rPr>
              <a:t>show what ran, what changed, and what evidence supports the result.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FEA9117-F799-4D02-92F5-DC58BC12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440"/>
            <a:ext cx="7772400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63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151E46E-D692-467C-B4A9-CADBE7A9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68880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Live App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BAF419F-C4A3-4419-84D1-CD7C3324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468880"/>
            <a:ext cx="5029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/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A93E568-9BBA-4FB8-BA7A-C58A6B8C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7772400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63A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FB9A878-338A-4D0D-9E6E-1E7236DC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71800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GitHub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24AB33E-65A0-4C75-8E34-7C55B684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71800"/>
            <a:ext cx="5029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/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88FFB77-D317-4BC5-B1FE-C281D510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7772400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263A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7AA6C3-44C7-40B7-8058-B78C83BF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74720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PRD Document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8ED2645-7697-4634-B873-2CE62D16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474720"/>
            <a:ext cx="5029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/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56381C4-A247-4614-ACDC-83DB12DC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Pak Angels Cohort 11  ·  VERITAS-lite  ·  October 2026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6966400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2026-10-04T04:19:42.5170000Z</dcterms:created>
  <dcterms:modified xsi:type="dcterms:W3CDTF">2026-10-04T04:19:42.5170000Z</dcterms:modified>
</coreProperties>
</file>